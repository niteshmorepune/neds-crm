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92354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8229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NIRANJAN ENTERPRISES DIGITAL SOLUTIONS — BUSINESS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92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ECE6D6"/>
                </a:solidFill>
                <a:latin typeface="Georgia"/>
              </a:rPr>
              <a:t>You didn't start this business</a:t>
            </a:r>
          </a:p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ECE6D6"/>
                </a:solidFill>
                <a:latin typeface="Georgia"/>
              </a:rPr>
              <a:t>to run it from WhatsApp.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9B9689"/>
                </a:solidFill>
                <a:latin typeface="Segoe UI"/>
              </a:rPr>
              <a:t>Everything else you built — the leads, the promises, the money, the people — deserves a system just as serious as you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20">
                <a:solidFill>
                  <a:srgbClr val="9B9689"/>
                </a:solidFill>
                <a:latin typeface="Consolas"/>
              </a:rPr>
              <a:t>A WALKTHROUGH OF NEDS BUSINESS OS</a:t>
            </a:r>
          </a:p>
        </p:txBody>
      </p:sp>
      <p:sp>
        <p:nvSpPr>
          <p:cNvPr id="8" name="Oval 7"/>
          <p:cNvSpPr/>
          <p:nvPr/>
        </p:nvSpPr>
        <p:spPr>
          <a:xfrm rot="21060000">
            <a:off x="8778240" y="1371600"/>
            <a:ext cx="1554480" cy="1554480"/>
          </a:xfrm>
          <a:prstGeom prst="ellipse">
            <a:avLst/>
          </a:prstGeom>
          <a:noFill/>
          <a:ln w="17780">
            <a:solidFill>
              <a:srgbClr val="C243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900" b="1">
                <a:solidFill>
                  <a:srgbClr val="C24357"/>
                </a:solidFill>
                <a:latin typeface="Consolas"/>
              </a:rPr>
              <a:t>Built &amp; Proven
In-House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50">
                <a:solidFill>
                  <a:srgbClr val="9B9689"/>
                </a:solidFill>
                <a:latin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02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1 — HOW THE DAY ACTUALLY GOES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CE6D6"/>
                </a:solidFill>
                <a:latin typeface="Georgia"/>
              </a:rPr>
              <a:t>Read this like it's your own handwriting.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CE6D6"/>
                </a:solidFill>
                <a:latin typeface="Consolas"/>
              </a:rPr>
              <a:t>DAILY</a:t>
            </a:r>
            <a:r>
              <a:rPr sz="1100" b="0" i="0" spc="50">
                <a:solidFill>
                  <a:srgbClr val="9B9689"/>
                </a:solidFill>
                <a:latin typeface="Consolas"/>
              </a:rPr>
              <a:t>   the grind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176272"/>
            <a:ext cx="4937760" cy="1905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2340864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6151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 lead messages on Instagram at 11 PM. By the time anyone sees it, they've already called your competitor.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182112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273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4564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Three people are “handling” the same client on WhatsApp — none of them know what the other two promised.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023360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114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DAILY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97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You want to know who actually came to work today. You have to walk the floor to find 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864608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956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DAILY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3892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 quotation that should take ten minutes takes an hour, because the GST split is still done by hand.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828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CE6D6"/>
                </a:solidFill>
                <a:latin typeface="Consolas"/>
              </a:rPr>
              <a:t>WEEKLY</a:t>
            </a:r>
            <a:r>
              <a:rPr sz="1100" b="0" i="0" spc="50">
                <a:solidFill>
                  <a:srgbClr val="9B9689"/>
                </a:solidFill>
                <a:latin typeface="Consolas"/>
              </a:rPr>
              <a:t>   the drift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176272"/>
            <a:ext cx="4937760" cy="1905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2340864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WEEKLY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151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“Did anyone follow up with them?” — nobody has an honest answer.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182112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3273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WEEKLY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564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 deal you were sure would close ten days ago has gone completely silent. Nobody noticed.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023360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4114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WEEKLY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297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Monday's team meeting is spent finding out what happened last week, instead of planning the next one.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864608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4956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WEEKLY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13892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 client's complaint lives inside a WhatsApp chat that will quietly scroll away by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03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2 — HOW THE MONTH AND THE YEAR ACTUALLY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CE6D6"/>
                </a:solidFill>
                <a:latin typeface="Georgia"/>
              </a:rPr>
              <a:t>The same story. A much bigger number.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28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CE6D6"/>
                </a:solidFill>
                <a:latin typeface="Consolas"/>
              </a:rPr>
              <a:t>MONTHLY</a:t>
            </a:r>
            <a:r>
              <a:rPr sz="1100" b="0" i="0" spc="50">
                <a:solidFill>
                  <a:srgbClr val="9B9689"/>
                </a:solidFill>
                <a:latin typeface="Consolas"/>
              </a:rPr>
              <a:t>   the leak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176272"/>
            <a:ext cx="4937760" cy="1905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2340864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MONTHLY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6151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Twenty retainer clients. Did every single one get billed this month? Someone is checking an Excel sheet to be 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182112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273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MONTHLY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4564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CGST, SGST, IGST, HSN codes — worked out by hand, one wrong split away from a GST notice.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023360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114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MONTHLY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97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You can tell me this month's total revenue. You cannot tell me which service line actually made money.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864608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956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MONTHLY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3892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Payments are overdue, and everyone quietly assumes someone else is chasing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8288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CE6D6"/>
                </a:solidFill>
                <a:latin typeface="Consolas"/>
              </a:rPr>
              <a:t>YEARLY</a:t>
            </a:r>
            <a:r>
              <a:rPr sz="1100" b="0" i="0" spc="50">
                <a:solidFill>
                  <a:srgbClr val="9B9689"/>
                </a:solidFill>
                <a:latin typeface="Consolas"/>
              </a:rPr>
              <a:t>   the blind spot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176272"/>
            <a:ext cx="4937760" cy="1905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2340864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YEARLY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1518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 client left in March. Nobody can say exactly why — or what was promised to them back in October.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182112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32735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YEARLY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5643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Appraisal season runs on memory and impressions, because there's no real record of who closed what, who fixed what.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023360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4114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YEARLY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2976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Your CA wants a clean trail of invoices and payments. It's spread across Tally, three spreadsheets, and someone's inbox.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864608"/>
            <a:ext cx="493776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4956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YEARLY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13892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CE6D6"/>
                </a:solidFill>
                <a:latin typeface="Segoe UI"/>
              </a:rPr>
              <a:t>By the time attrition shows up in revenue, the client decided to leave months ago.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5989320"/>
            <a:ext cx="5943600" cy="1905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61264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1">
                <a:solidFill>
                  <a:srgbClr val="ECE6D6"/>
                </a:solidFill>
                <a:latin typeface="Georgia"/>
              </a:rPr>
              <a:t>None of this is a people problem. It's a systems problem —
and it compounds every day it isn't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04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THE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One business. Five different systems.
None of them talk to each other.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514600"/>
            <a:ext cx="1993392" cy="17373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2715768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99816"/>
            <a:ext cx="1536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Where every real conversation actually happens — and where it also disappears.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514600"/>
            <a:ext cx="1993392" cy="17373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2715768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099816"/>
            <a:ext cx="1536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A different sheet for leads, for billing, for attendance — never quite the same version twice.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514600"/>
            <a:ext cx="1993392" cy="17373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9240" y="2715768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Tally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099816"/>
            <a:ext cx="1536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Keeps the books straight. Knows nothing about the client, the deal, or the promise behind the invoice.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514600"/>
            <a:ext cx="1993392" cy="17373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2360" y="2715768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The Notebook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099816"/>
            <a:ext cx="1536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Whoever's desk it's sitting on is the only person who can answer the question.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2514600"/>
            <a:ext cx="1993392" cy="17373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2715768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099816"/>
            <a:ext cx="1536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The most-used, least reliable system of all. Leaves the building every time someone resigns.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B9689"/>
                </a:solidFill>
                <a:latin typeface="Segoe UI"/>
              </a:rPr>
              <a:t>Every one of these is good at exactly one thing. None of them were built to be your business's memory. So the memory becomes you — and that stops scaling the moment you can't personally remember everything.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05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ECE6D6"/>
                </a:solidFill>
                <a:latin typeface="Georgia"/>
              </a:rPr>
              <a:t>One ledger. Every part of the business. Connected.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783080"/>
            <a:ext cx="34290" cy="9144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1783080"/>
            <a:ext cx="8778240" cy="914400"/>
          </a:xfrm>
          <a:prstGeom prst="rect">
            <a:avLst/>
          </a:prstGeom>
          <a:solidFill>
            <a:srgbClr val="19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1783080"/>
            <a:ext cx="34290" cy="9144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1920240"/>
            <a:ext cx="8275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ECE6D6"/>
                </a:solidFill>
                <a:latin typeface="Segoe UI"/>
              </a:rPr>
              <a:t>This isn't a concept pitch. It's </a:t>
            </a:r>
            <a:r>
              <a:rPr sz="1300" b="1" i="0">
                <a:solidFill>
                  <a:srgbClr val="C24357"/>
                </a:solidFill>
                <a:latin typeface="Segoe UI"/>
              </a:rPr>
              <a:t>the exact system Niranjan Enterprises Digital Solutions runs its own agency on</a:t>
            </a:r>
            <a:r>
              <a:rPr sz="1300" b="0" i="0">
                <a:solidFill>
                  <a:srgbClr val="ECE6D6"/>
                </a:solidFill>
                <a:latin typeface="Segoe UI"/>
              </a:rPr>
              <a:t>, every working day — leads, GST invoices, projects, tickets, attendance, all of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2926080"/>
            <a:ext cx="2487168" cy="1874519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1272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Business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11296"/>
            <a:ext cx="2029968" cy="105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Leads, deals, quotations, GST invoices, projects, tickets, attendance — one record per client, not five.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2926080"/>
            <a:ext cx="2487168" cy="1874519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58184" y="31272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AI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8184" y="3511296"/>
            <a:ext cx="2029968" cy="105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Scores leads, drafts replies, summarises history — quietly, in the background, never sending on its 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2926080"/>
            <a:ext cx="2487168" cy="1874519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31272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Client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511296"/>
            <a:ext cx="2029968" cy="105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Your clients see their own invoices, projects and tickets — without a single extra phone call.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2" y="2926080"/>
            <a:ext cx="2487168" cy="1874519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88552" y="31272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Communication Desk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511296"/>
            <a:ext cx="2029968" cy="105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WhatsApp, content and service delivery, wired directly into the same record — not a separate silo.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B9689"/>
                </a:solidFill>
                <a:latin typeface="Segoe UI"/>
              </a:rPr>
              <a:t>Deployed as your own system, on your own data — never a shared account on someone else's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06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HOW MONEY ACTUALLY MOVES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ECE6D6"/>
                </a:solidFill>
                <a:latin typeface="Georgia"/>
              </a:rPr>
              <a:t>From first message to money in the bank — one continuous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Captured from your website, ads or WhatsApp — never sitting in someone's personal inbox.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06178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34194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4194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34194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Moves through your pipeline stages; goes silent too long and it flags itself.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97956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25972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5972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Quotation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5972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GST calculated correctly, every time, in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89734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17750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7750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Invoice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7750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Financial-year numbered, CGST/SGST/IGST split automatically.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81512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09528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9528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9528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Tracked to the rupee, overdue ones chase themselves.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73290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1306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1306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1306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Tasks, team, timeline — visible to the client who's paying for 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65068" y="2743200"/>
            <a:ext cx="1382050" cy="1737360"/>
          </a:xfrm>
          <a:prstGeom prst="roundRect">
            <a:avLst>
              <a:gd name="adj" fmla="val 8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93084" y="2871216"/>
            <a:ext cx="11260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">
                <a:solidFill>
                  <a:srgbClr val="D8A94E"/>
                </a:solidFill>
                <a:latin typeface="Consolas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3084" y="3127248"/>
            <a:ext cx="1126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CE6D6"/>
                </a:solidFill>
                <a:latin typeface="Georgia"/>
              </a:rPr>
              <a:t>Ticket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93084" y="3493008"/>
            <a:ext cx="112601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B9689"/>
                </a:solidFill>
                <a:latin typeface="Segoe UI"/>
              </a:rPr>
              <a:t>Every complaint on the record, with an SLA clock running.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07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1, ANSWERED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Your day, in one place, before 9 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Every channel lands in one inbox.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WhatsApp messages, website leads and calls all become one tracked record — nobody's “handling” a client in the dark.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Attendance, visible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Self check-in plus biometric sync — you know who's in, without walking the floor.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A “Today” panel, not five dashboards.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What's due, what's overdue, who needs a callback — one screen, one glance.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A GST-correct quotation in minutes.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CGST/SGST/IGST split calculated automatically — not by hand, not by guesswork.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08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1, ANSWERED — CONTINUED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Nothing gets forgotten just because
nobody remembered to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Deals flag themselves when they go quiet.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Ten days untouched, and it surfaces on its own — before the client notices first.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One shared timeline per client.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Every call, note and message in one place — the answer to “who followed up” is always one click away.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Team nudges replace the status-update meeting.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Recurring reminders, tracked to done — Monday becomes planning time again.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Complaints become tickets, not chat history.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Logged, assigned, timed against an SLA — nothing scrolls away by Friday.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09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2, ANSWERED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Billing that chases itself.
GST that's never a guess.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Recurring invoices run on their 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Every retainer client billed on schedule, with reminders before anything is ever missed.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GST handled by the system, not by 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CGST/SGST/IGST split by state, HSN/SAC codes, financial-year invoice numbering — audit-ready by default.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Revenue, sliced by service 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See exactly what SEO, Website Dev or Ads are actually earning — not just a lump total.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Receivables that chase themselves.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One dashboard of who owes what, with reminders sent automatically.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10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PAGE 2, ANSWERED — CONTINUED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Year-end stops being a fire drill.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A full activity trail on every client.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What was promised, and when — never only in one person's memory.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Real data for appraisal season.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Who closed what, who resolved what — a record, not an impression.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A clean, auditable ledger, always current.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Invoices and payments in one place — no more piecing it together from Tally and three spreadsheets.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Warning signs before a client leaves, not after.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A quiet account shows up long before it shows up in your revenue.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11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THE EXTRA TEAMMATE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ECE6D6"/>
                </a:solidFill>
                <a:latin typeface="Georgia"/>
              </a:rPr>
              <a:t>AI that works quietly in the background —
and never sends anything without you.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266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2402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Every lead scored the moment it arrives.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53288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So your best rep calls the best lead first, not whoever happened to open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127248"/>
            <a:ext cx="48463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246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226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2004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Drafted replies and follow-ups.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49300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A head start on a ticket or an email — your team always edits and sends it themselves.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087368"/>
            <a:ext cx="48463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28600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2266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22402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Instant summaries before a call.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253288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Months of history, condensed into a few lines, right when you need 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27248"/>
            <a:ext cx="48463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246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3226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2004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Content and greeting drafts.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349300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For retainer clients — a starting point your team polishes, never a replacement for them.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87368"/>
            <a:ext cx="48463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 rot="21060000">
            <a:off x="9326880" y="5029200"/>
            <a:ext cx="1417320" cy="1417320"/>
          </a:xfrm>
          <a:prstGeom prst="ellipse">
            <a:avLst/>
          </a:prstGeom>
          <a:noFill/>
          <a:ln w="17780">
            <a:solidFill>
              <a:srgbClr val="C243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900" b="1">
                <a:solidFill>
                  <a:srgbClr val="C24357"/>
                </a:solidFill>
                <a:latin typeface="Consolas"/>
              </a:rPr>
              <a:t>Human Always
Approves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12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WHAT YOUR CLIENTS SEE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Give clients a window in — and they stop
calling to ask “what's happening.”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Live invoices and payment status.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No more “can you resend that invoice” emails.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Real-time project updates.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The team's own notes, shared the moment they're written.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Tickets they can track themselves.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Raised, watched, and resolved — visibly, on their side too.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The quiet reason clients renew.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They don't need to trust your word that you're organised — they can see 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13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FOR SERVICE &amp; CONTENT-LED BUSINESSES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ECE6D6"/>
                </a:solidFill>
                <a:latin typeface="Georgia"/>
              </a:rPr>
              <a:t>When your business runs on content and delivery,
the ledger goes further.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743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29443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OPTIONAL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369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WhatsApp Business 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21024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Every conversation, every team member, one shared inbox — nothing lost just because someone's on leave.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743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29443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OPTIONAL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2369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AI Content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621024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Brief goes in, on-brand content comes out — approved by your team before it ever goes live.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2743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29443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>
                <a:solidFill>
                  <a:srgbClr val="D8A94E"/>
                </a:solidFill>
                <a:latin typeface="Consolas"/>
              </a:rPr>
              <a:t>OPTIONAL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2369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CE6D6"/>
                </a:solidFill>
                <a:latin typeface="Georgia"/>
              </a:rPr>
              <a:t>Service Delivery Cockpit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621024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B9689"/>
                </a:solidFill>
                <a:latin typeface="Segoe UI"/>
              </a:rPr>
              <a:t>Audits, scheduling and reporting for every client, in one place — built for agencies managing many accounts at once.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14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WHY THIS, WHY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8686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CE6D6"/>
                </a:solidFill>
                <a:latin typeface="Georgia"/>
              </a:rPr>
              <a:t>Built here. For businesses that
actually look like yours.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0312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0831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205740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GST-native from day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35000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Not a foreign product with tax handling bolted on afterward.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94436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06324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0432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0175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Rupees, and your financial year.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331012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April to March, invoice numbering that matches how your CA already thinks.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0448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02336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033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9776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WhatsApp as a first-class channel.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27024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Because that's genuinely where your business already happens, not just email.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86460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" y="498348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9634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377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Your own instance, your own 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3036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Never a shared account on someone else's multi-tenant platform.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82472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" y="5943600"/>
            <a:ext cx="228600" cy="228600"/>
          </a:xfrm>
          <a:prstGeom prst="rect">
            <a:avLst/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923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151C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1872" y="589788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CE6D6"/>
                </a:solidFill>
                <a:latin typeface="Segoe UI"/>
              </a:rPr>
              <a:t>The basics done properly.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6190488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B9689"/>
                </a:solidFill>
                <a:latin typeface="Segoe UI"/>
              </a:rPr>
              <a:t>Role-based access, two-factor login, daily backups, a full audit trail of every change.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6784848"/>
            <a:ext cx="9875520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9525" cy="6858000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457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914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828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2286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2743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3200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3657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41148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45720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292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54864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943600"/>
            <a:ext cx="128016" cy="9525"/>
          </a:xfrm>
          <a:prstGeom prst="rect">
            <a:avLst/>
          </a:prstGeom>
          <a:solidFill>
            <a:srgbClr val="2B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" y="274320"/>
            <a:ext cx="2926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NEDS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BUSINESS</a:t>
            </a:r>
          </a:p>
          <a:p>
            <a:pPr algn="ctr"/>
            <a:r>
              <a:rPr sz="800" b="1" i="0" spc="120">
                <a:solidFill>
                  <a:srgbClr val="9B9689"/>
                </a:solidFill>
                <a:latin typeface="Consolas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560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50">
                <a:solidFill>
                  <a:srgbClr val="9B9689"/>
                </a:solidFill>
                <a:latin typeface="Consolas"/>
              </a:rPr>
              <a:t>15 /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3504"/>
            <a:ext cx="256032" cy="12700"/>
          </a:xfrm>
          <a:prstGeom prst="rect">
            <a:avLst/>
          </a:prstGeom>
          <a:solidFill>
            <a:srgbClr val="C2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502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60">
                <a:solidFill>
                  <a:srgbClr val="C24357"/>
                </a:solidFill>
                <a:latin typeface="Consolas"/>
              </a:rPr>
              <a:t>NEXT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60120"/>
            <a:ext cx="9875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CE6D6"/>
                </a:solidFill>
                <a:latin typeface="Georgia"/>
              </a:rPr>
              <a:t>Let's put your business on the ledger.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92024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B9689"/>
                </a:solidFill>
                <a:latin typeface="Segoe UI"/>
              </a:rPr>
              <a:t>One walkthrough. Your actual leads, your actual invoices, your actual team — mapped onto the system live, so you see exactly where your business fits before you decide anything.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" y="3017520"/>
            <a:ext cx="10683551" cy="1554480"/>
          </a:xfrm>
          <a:prstGeom prst="roundRect">
            <a:avLst>
              <a:gd name="adj" fmla="val 6000"/>
            </a:avLst>
          </a:prstGeom>
          <a:solidFill>
            <a:srgbClr val="191D26"/>
          </a:solidFill>
          <a:ln w="9525">
            <a:solidFill>
              <a:srgbClr val="2B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0462" y="3566160"/>
            <a:ext cx="362145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 dirty="0">
                <a:solidFill>
                  <a:srgbClr val="9B9689"/>
                </a:solidFill>
                <a:latin typeface="Consolas"/>
              </a:rPr>
              <a:t>COMPANY</a:t>
            </a:r>
          </a:p>
          <a:p>
            <a:pPr algn="l"/>
            <a:r>
              <a:rPr sz="1300" b="1" i="0" dirty="0">
                <a:solidFill>
                  <a:srgbClr val="ECE6D6"/>
                </a:solidFill>
                <a:latin typeface="Georgia"/>
              </a:rPr>
              <a:t>Niranjan </a:t>
            </a:r>
            <a:r>
              <a:rPr sz="1300" b="1" i="0" dirty="0" smtClean="0">
                <a:solidFill>
                  <a:srgbClr val="ECE6D6"/>
                </a:solidFill>
                <a:latin typeface="Georgia"/>
              </a:rPr>
              <a:t>Enterprises</a:t>
            </a:r>
            <a:r>
              <a:rPr lang="en-US" sz="1300" b="1" i="0" dirty="0" smtClean="0">
                <a:solidFill>
                  <a:srgbClr val="ECE6D6"/>
                </a:solidFill>
                <a:latin typeface="Georgia"/>
              </a:rPr>
              <a:t> </a:t>
            </a:r>
            <a:r>
              <a:rPr sz="1300" b="1" i="0" dirty="0" smtClean="0">
                <a:solidFill>
                  <a:srgbClr val="ECE6D6"/>
                </a:solidFill>
                <a:latin typeface="Georgia"/>
              </a:rPr>
              <a:t>Digital </a:t>
            </a:r>
            <a:r>
              <a:rPr sz="1300" b="1" i="0" dirty="0">
                <a:solidFill>
                  <a:srgbClr val="ECE6D6"/>
                </a:solidFill>
                <a:latin typeface="Georgia"/>
              </a:rPr>
              <a:t>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3957" y="3566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 dirty="0">
                <a:solidFill>
                  <a:srgbClr val="9B9689"/>
                </a:solidFill>
                <a:latin typeface="Consolas"/>
              </a:rPr>
              <a:t>WEB</a:t>
            </a:r>
          </a:p>
          <a:p>
            <a:pPr algn="l"/>
            <a:r>
              <a:rPr sz="1300" b="1" i="0" dirty="0">
                <a:solidFill>
                  <a:srgbClr val="ECE6D6"/>
                </a:solidFill>
                <a:latin typeface="Georgia"/>
              </a:rPr>
              <a:t>niranjanenterprises.com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5661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80" dirty="0">
                <a:solidFill>
                  <a:srgbClr val="9B9689"/>
                </a:solidFill>
                <a:latin typeface="Consolas"/>
              </a:rPr>
              <a:t>WHATSAPP</a:t>
            </a:r>
          </a:p>
          <a:p>
            <a:pPr algn="l"/>
            <a:r>
              <a:rPr sz="1300" b="1" i="0" dirty="0">
                <a:solidFill>
                  <a:srgbClr val="ECE6D6"/>
                </a:solidFill>
                <a:latin typeface="Georgia"/>
              </a:rPr>
              <a:t>+91 80077 33737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249" y="35661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5FA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dirty="0">
                <a:solidFill>
                  <a:srgbClr val="12151C"/>
                </a:solidFill>
                <a:latin typeface="Consolas"/>
              </a:rPr>
              <a:t>Start on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" y="5120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9B9689"/>
                </a:solidFill>
                <a:latin typeface="Georgia"/>
              </a:rPr>
              <a:t>Start the same place this began — on WhatsApp.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1933</Words>
  <Application>Microsoft Office PowerPoint</Application>
  <PresentationFormat>Widescreen</PresentationFormat>
  <Paragraphs>276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2026-07-26T11:26:31Z</dcterms:modified>
  <cp:category/>
</cp:coreProperties>
</file>